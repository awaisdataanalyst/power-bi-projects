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a71d51b5-c90b-4b3f-362e-18035ab2941a}">
          <p14:sldIdLst>
            <p14:sldId id="256"/>
            <p14:sldId id="257"/>
          </p14:sldIdLst>
        </p14:section>
        <p14:section name="Analysis" id="{ece5c21f-2ac4-d782-cafb-726993a35b0f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Next steps" id="{2ef3d52e-138e-3c3a-7c43-83d4e432c925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6B3A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E6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 Performance Analysis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2788920"/>
            <a:ext cx="2286000" cy="0"/>
          </a:xfrm>
          <a:prstGeom prst="line">
            <a:avLst/>
          </a:prstGeom>
          <a:noFill/>
          <a:ln w="25400">
            <a:solidFill>
              <a:srgbClr val="9FD3A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&amp; Data Analytics Report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</a:t>
            </a:r>
            <a:endParaRPr lang="en-US" sz="2400" dirty="0"/>
          </a:p>
        </p:txBody>
      </p:sp>
      <p:sp>
        <p:nvSpPr>
          <p:cNvPr id="3" name="card0"/>
          <p:cNvSpPr/>
          <p:nvPr/>
        </p:nvSpPr>
        <p:spPr>
          <a:xfrm>
            <a:off x="457200" y="1188720"/>
            <a:ext cx="2606040" cy="3017520"/>
          </a:xfrm>
          <a:prstGeom prst="rect">
            <a:avLst/>
          </a:prstGeom>
          <a:solidFill>
            <a:schemeClr val="bg2"/>
          </a:solidFill>
          <a:ln w="6350">
            <a:solidFill>
              <a:srgbClr val="B7C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spend, reach, conversion and revenue relate across time, companies, channels and customers.</a:t>
            </a:r>
            <a:endParaRPr lang="en-US" sz="1400" dirty="0"/>
          </a:p>
        </p:txBody>
      </p:sp>
      <p:sp>
        <p:nvSpPr>
          <p:cNvPr id="6" name="card1"/>
          <p:cNvSpPr/>
          <p:nvPr/>
        </p:nvSpPr>
        <p:spPr>
          <a:xfrm>
            <a:off x="3246120" y="1188720"/>
            <a:ext cx="2606040" cy="3017520"/>
          </a:xfrm>
          <a:prstGeom prst="rect">
            <a:avLst/>
          </a:prstGeom>
          <a:solidFill>
            <a:schemeClr val="bg2"/>
          </a:solidFill>
          <a:ln w="6350">
            <a:solidFill>
              <a:srgbClr val="B7C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371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87452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performance change over time? How do companies, channels and customer groups differ?</a:t>
            </a:r>
            <a:endParaRPr lang="en-US" sz="1400" dirty="0"/>
          </a:p>
        </p:txBody>
      </p:sp>
      <p:sp>
        <p:nvSpPr>
          <p:cNvPr id="9" name="card2"/>
          <p:cNvSpPr/>
          <p:nvPr/>
        </p:nvSpPr>
        <p:spPr>
          <a:xfrm>
            <a:off x="6035040" y="1188720"/>
            <a:ext cx="2606040" cy="3017520"/>
          </a:xfrm>
          <a:prstGeom prst="rect">
            <a:avLst/>
          </a:prstGeom>
          <a:solidFill>
            <a:schemeClr val="bg2"/>
          </a:solidFill>
          <a:ln w="6350">
            <a:solidFill>
              <a:srgbClr val="B7C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371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87452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acquisition cost, ROI, CTR, conversion rate, cost per conversion.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 Overview</a:t>
            </a:r>
            <a:endParaRPr lang="en-US" sz="2400" dirty="0"/>
          </a:p>
        </p:txBody>
      </p:sp>
      <p:sp>
        <p:nvSpPr>
          <p:cNvPr id="3" name="kpi0"/>
          <p:cNvSpPr/>
          <p:nvPr/>
        </p:nvSpPr>
        <p:spPr>
          <a:xfrm>
            <a:off x="457200" y="1371600"/>
            <a:ext cx="1554480" cy="2377440"/>
          </a:xfrm>
          <a:prstGeom prst="rect">
            <a:avLst/>
          </a:prstGeom>
          <a:solidFill>
            <a:schemeClr val="bg2"/>
          </a:solidFill>
          <a:ln w="6350">
            <a:solidFill>
              <a:srgbClr val="B7C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$15.02bn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across ~200K campaigns</a:t>
            </a:r>
            <a:endParaRPr lang="en-US" sz="1100" dirty="0"/>
          </a:p>
        </p:txBody>
      </p:sp>
      <p:sp>
        <p:nvSpPr>
          <p:cNvPr id="7" name="kpi1"/>
          <p:cNvSpPr/>
          <p:nvPr/>
        </p:nvSpPr>
        <p:spPr>
          <a:xfrm>
            <a:off x="2148840" y="1371600"/>
            <a:ext cx="1554480" cy="2377440"/>
          </a:xfrm>
          <a:prstGeom prst="rect">
            <a:avLst/>
          </a:prstGeom>
          <a:solidFill>
            <a:schemeClr val="bg2"/>
          </a:solidFill>
          <a:ln w="6350">
            <a:solidFill>
              <a:srgbClr val="B7C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40280" y="1554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$2.50bn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2194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cost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26517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≈$12.5K per campaign</a:t>
            </a:r>
            <a:endParaRPr lang="en-US" sz="1100" dirty="0"/>
          </a:p>
        </p:txBody>
      </p:sp>
      <p:sp>
        <p:nvSpPr>
          <p:cNvPr id="11" name="kpi2"/>
          <p:cNvSpPr/>
          <p:nvPr/>
        </p:nvSpPr>
        <p:spPr>
          <a:xfrm>
            <a:off x="3840480" y="1371600"/>
            <a:ext cx="1554480" cy="2377440"/>
          </a:xfrm>
          <a:prstGeom prst="rect">
            <a:avLst/>
          </a:prstGeom>
          <a:solidFill>
            <a:schemeClr val="bg2"/>
          </a:solidFill>
          <a:ln w="6350">
            <a:solidFill>
              <a:srgbClr val="B7C9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31920" y="1554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≈500%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2194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26517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≈$6.01 revenue per $1 spent</a:t>
            </a:r>
            <a:endParaRPr lang="en-US" sz="1100" dirty="0"/>
          </a:p>
        </p:txBody>
      </p:sp>
      <p:sp>
        <p:nvSpPr>
          <p:cNvPr id="15" name="kpi3"/>
          <p:cNvSpPr/>
          <p:nvPr/>
        </p:nvSpPr>
        <p:spPr>
          <a:xfrm>
            <a:off x="5532120" y="1371600"/>
            <a:ext cx="1554480" cy="2377440"/>
          </a:xfrm>
          <a:prstGeom prst="rect">
            <a:avLst/>
          </a:prstGeom>
          <a:solidFill>
            <a:schemeClr val="bg2"/>
          </a:solidFill>
          <a:ln w="6350">
            <a:solidFill>
              <a:srgbClr val="B7C9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23560" y="1554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9.98%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623560" y="2194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623560" y="26517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in 10 impressions clicks</a:t>
            </a:r>
            <a:endParaRPr lang="en-US" sz="1100" dirty="0"/>
          </a:p>
        </p:txBody>
      </p:sp>
      <p:sp>
        <p:nvSpPr>
          <p:cNvPr id="19" name="kpi4"/>
          <p:cNvSpPr/>
          <p:nvPr/>
        </p:nvSpPr>
        <p:spPr>
          <a:xfrm>
            <a:off x="7223760" y="1371600"/>
            <a:ext cx="1554480" cy="2377440"/>
          </a:xfrm>
          <a:prstGeom prst="rect">
            <a:avLst/>
          </a:prstGeom>
          <a:solidFill>
            <a:schemeClr val="bg2"/>
          </a:solidFill>
          <a:ln w="6350">
            <a:solidFill>
              <a:srgbClr val="B7C9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0" y="1554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≈8%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2194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26517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in 100 clicks convert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ROI formatting is now consistent (percent) on the Overview table and cards.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Performance Trends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spend look broadly flat month to month (spend ≈208M a month; revenue ≈0.25bn per company per month).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 fluctuate visibly while spend stays steady, so spend does not explain monthly reach.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moves similarly across all five companies.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ROI and conversion trends cannot be determined from current visuals.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observed, not proof of cause.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Performance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280160"/>
                <a:gridCol w="1280160"/>
                <a:gridCol w="1280160"/>
                <a:gridCol w="1280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DataTech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Innovate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NexGen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TechCorp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≈3.0bn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≈3.0bn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≈3.0bn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≈3.0bn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≈3.0bn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ROI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500.6%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500.6%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500.2%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499.1%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500.7%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/ conversion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40,051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40,012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≈39.7–40.0K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≈39.7–40.0K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40,237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are very similar on every metric; gaps are about 1–2%.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Per-company spend is not displayed, so it cannot be determined directly.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Performance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14400"/>
                <a:gridCol w="914400"/>
                <a:gridCol w="914400"/>
                <a:gridCol w="9144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CPC*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ROI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18.49M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$22.76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499.6%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Facebook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18.04M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$22.76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501.9%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18.34M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$22.84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500.3%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18.32M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$22.77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498.9%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18.41M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$22.62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501.4%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18.35M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$22.71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499.4%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57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*Derived from clicks, impressions, spend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click is near-constant, so clicks scale with spend.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differ ~2.5% and CTR 9.91–10.02% across channels.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spans 498.9–501.9%; Facebook, with the lowest spend, shows the highest (501.9%).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Conversions, revenue and cost per conversion by channel cannot be determined.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Type &amp; Customer Insights</a:t>
            </a:r>
            <a:endParaRPr lang="en-US" sz="2400" dirty="0"/>
          </a:p>
        </p:txBody>
      </p:sp>
      <p:sp>
        <p:nvSpPr>
          <p:cNvPr id="3" name="c1"/>
          <p:cNvSpPr/>
          <p:nvPr/>
        </p:nvSpPr>
        <p:spPr>
          <a:xfrm>
            <a:off x="457200" y="1097280"/>
            <a:ext cx="2651760" cy="3291840"/>
          </a:xfrm>
          <a:prstGeom prst="rect">
            <a:avLst/>
          </a:prstGeom>
          <a:solidFill>
            <a:schemeClr val="bg2"/>
          </a:solidFill>
          <a:ln w="6350">
            <a:solidFill>
              <a:srgbClr val="B7C9D9"/>
            </a:solidFill>
            <a:prstDash val="solid"/>
          </a:ln>
        </p:spPr>
      </p:sp>
      <p:sp>
        <p:nvSpPr>
          <p:cNvPr id="4" name="c2"/>
          <p:cNvSpPr/>
          <p:nvPr/>
        </p:nvSpPr>
        <p:spPr>
          <a:xfrm>
            <a:off x="3246120" y="1097280"/>
            <a:ext cx="2651760" cy="3291840"/>
          </a:xfrm>
          <a:prstGeom prst="rect">
            <a:avLst/>
          </a:prstGeom>
          <a:solidFill>
            <a:schemeClr val="bg2"/>
          </a:solidFill>
          <a:ln w="6350">
            <a:solidFill>
              <a:srgbClr val="B7C9D9"/>
            </a:solidFill>
            <a:prstDash val="solid"/>
          </a:ln>
        </p:spPr>
      </p:sp>
      <p:sp>
        <p:nvSpPr>
          <p:cNvPr id="5" name="c3"/>
          <p:cNvSpPr/>
          <p:nvPr/>
        </p:nvSpPr>
        <p:spPr>
          <a:xfrm>
            <a:off x="6035040" y="1097280"/>
            <a:ext cx="2651760" cy="3291840"/>
          </a:xfrm>
          <a:prstGeom prst="rect">
            <a:avLst/>
          </a:prstGeom>
          <a:solidFill>
            <a:schemeClr val="bg2"/>
          </a:solidFill>
          <a:ln w="6350">
            <a:solidFill>
              <a:srgbClr val="B7C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type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exists in the model (Dim_CompaignType) but no visual shows it yet; results cannot be determined.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78308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 1.74–1.77M across five segments (1.7% spread). Foodies and Outdoor Adventurers slightly higher.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78308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21.8–22.1M. Women 35–44 slightly lower (~1.4%). Response is similar across groups.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implication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performance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Spreads of 1–3% across dimensions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Differences may be noise; test significance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 aggregate economics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$6.01 revenue per $1 spent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at campaign level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Clicks scale with spend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CPC $22.62–$22.84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for diminishing returns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Impressions vary, spend flat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Overview combo chart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Examine monthly mix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 ≈ conversions ÷ 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table rows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metric definitions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for Further Investigation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Campaign-type and location visuals (data already in the model)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Channel-level conversions and revenue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impression swings vs campaign mix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High-spend / low-return combinations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funnel and engagement definition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significance of small differences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items to examine, not established conclusions.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consistent economics, ROI ≈500%.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Trend: stable month to month.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between companies and channels are small.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campaign type, conversions and monthly drivers.</a:t>
            </a:r>
            <a:endParaRPr lang="en-US" sz="1700" dirty="0"/>
          </a:p>
        </p:txBody>
      </p:sp>
      <p:sp>
        <p:nvSpPr>
          <p:cNvPr id="4" name="closing"/>
          <p:cNvSpPr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solidFill>
            <a:schemeClr val="bg2"/>
          </a:solidFill>
          <a:ln w="6350">
            <a:solidFill>
              <a:srgbClr val="B7C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6118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"Data-driven analysis provides a foundation for evaluating campaign efficiency and identifying areas for further investigation."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mpaign Green">
  <a:themeElements>
    <a:clrScheme name="Campaign Green">
      <a:dk1>
        <a:srgbClr val="222222"/>
      </a:dk1>
      <a:lt1>
        <a:srgbClr val="FFFFFF"/>
      </a:lt1>
      <a:dk2>
        <a:srgbClr val="1E6B3A"/>
      </a:dk2>
      <a:lt2>
        <a:srgbClr val="E8F1FA"/>
      </a:lt2>
      <a:accent1>
        <a:srgbClr val="1E6B3A"/>
      </a:accent1>
      <a:accent2>
        <a:srgbClr val="4CAF50"/>
      </a:accent2>
      <a:accent3>
        <a:srgbClr val="2F4B63"/>
      </a:accent3>
      <a:accent4>
        <a:srgbClr val="9FD3A8"/>
      </a:accent4>
      <a:accent5>
        <a:srgbClr val="6B8FB3"/>
      </a:accent5>
      <a:accent6>
        <a:srgbClr val="F2A900"/>
      </a:accent6>
      <a:hlink>
        <a:srgbClr val="1E6B3A"/>
      </a:hlink>
      <a:folHlink>
        <a:srgbClr val="2F4B63"/>
      </a:folHlink>
    </a:clrScheme>
    <a:fontScheme name="Campaign Gree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2026-10-04T11:16:39Z</dcterms:created>
  <dcterms:modified xsi:type="dcterms:W3CDTF">2026-10-04T11:16:39Z</dcterms:modified>
</cp:coreProperties>
</file>